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5F0E8"/>
                </a:solidFill>
              </a:defRPr>
            </a:pPr>
            <a:r>
              <a:t>CCA-F</a:t>
            </a:r>
          </a:p>
          <a:p>
            <a:pPr algn="ctr">
              <a:defRPr sz="2800">
                <a:solidFill>
                  <a:srgbClr val="F5F0E8"/>
                </a:solidFill>
              </a:defRPr>
            </a:pPr>
            <a:r>
              <a:t>Claude Certified Architect —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F0E8"/>
                </a:solidFill>
              </a:defRPr>
            </a:pPr>
            <a:r>
              <a:t>Exam-Ready Study Deck</a:t>
            </a:r>
          </a:p>
          <a:p>
            <a:pPr algn="ctr">
              <a:defRPr sz="1800">
                <a:solidFill>
                  <a:srgbClr val="F5F0E8"/>
                </a:solidFill>
              </a:defRPr>
            </a:pPr>
            <a:r>
              <a:t>60 questions · 120 minutes · pass = 720/1000</a:t>
            </a:r>
          </a:p>
          <a:p>
            <a:pPr algn="ctr">
              <a:defRPr sz="1800">
                <a:solidFill>
                  <a:srgbClr val="F5F0E8"/>
                </a:solidFill>
              </a:defRPr>
            </a:pPr>
            <a:r>
              <a:t>5 weighted domains · 4 of 8 scenarios sampled per attempt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Exam overview &amp; domain weighting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Theory: 13 chapters across the Claude API, Agent SDK, MCP, Claude Code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Domain-by-domain checklist (5 domains)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The 8 production scenarios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Cheat sheet — patterns the exam keeps testing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Practice questions with answers and explanations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Practical labs — what to actually build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Recommended resources &amp; 4-week roadmap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Out-of-scope topics — don't waste study time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A7A7A"/>
                </a:solidFill>
              </a:defRPr>
            </a:pPr>
            <a:r>
              <a:t>CCA-F Study Kit · Anthropic Skilljar prep + community guides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Exam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6F8F"/>
                </a:solidFill>
              </a:defRPr>
            </a:pPr>
            <a:r>
              <a:t>Duration: 120 minutes</a:t>
            </a:r>
          </a:p>
          <a:p>
            <a:pPr algn="l">
              <a:defRPr sz="1800" b="1">
                <a:solidFill>
                  <a:srgbClr val="3A6F8F"/>
                </a:solidFill>
              </a:defRPr>
            </a:pPr>
            <a:r>
              <a:t>Questions: 60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Format: Multiple choice (1 correct of 4) — no guessing penalty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Scoring: 100 – 1000 scale; passing = 720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Scenarios sampled: 4 of 8 scenarios are sampled per attempt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Delivery: Online proctored via Anthropic Skilljar</a:t>
            </a:r>
          </a:p>
          <a:p>
            <a:pPr algn="l">
              <a:defRPr sz="1600" b="1">
                <a:solidFill>
                  <a:srgbClr val="B5483D"/>
                </a:solidFill>
              </a:defRPr>
            </a:pPr>
            <a:r>
              <a:t>No guessing penalty — answer EVERY question</a:t>
            </a:r>
          </a:p>
        </p:txBody>
      </p:sp>
      <p:pic>
        <p:nvPicPr>
          <p:cNvPr id="4" name="Picture 3" descr="01_domain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822960"/>
            <a:ext cx="5669280" cy="47061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5 Domains, weighted</a:t>
            </a:r>
          </a:p>
        </p:txBody>
      </p:sp>
      <p:pic>
        <p:nvPicPr>
          <p:cNvPr id="3" name="Picture 2" descr="01_domain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7772400" cy="6452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The 8 production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Customer Support Agent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Code Generation with Claude Code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Multi-agent Research System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Developer Productivity Tools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Claude Code for Continuous Integration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Structured Data Extraction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Conversational AI Architecture Patterns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Agentic AI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4-week study roadmap</a:t>
            </a:r>
          </a:p>
        </p:txBody>
      </p:sp>
      <p:pic>
        <p:nvPicPr>
          <p:cNvPr id="3" name="Picture 2" descr="14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601200" cy="4776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1. Claude API —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Stateless: every request must include the FULL prior conversation in `messages`. The model has no server-side memory.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Request fields: `model`, `max_tokens`, `system`, `messages`, `tools`, `tool_choice`.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Roles: `user`, `assistant`, plus tool results (sent as a `tool_result` content block on a user-role message).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stop_reason values you must handle: `end_turn` (final answer), `tool_use` (run the tool, append result, loop), `max_tokens` (truncated — increase limit), `stop_sequence`.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System prompt: separate field; defines persistent role/constraints/format. Wording can create unintended tool associations (e.g. forcing overuse of get_customer).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Context window includes system prompt + full history + tool definitions + tool results. Watch for: (a) lost-in-the-middle effect, (b) tool-result accumulation, (c) detail loss in progressive summarisation.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2. Tools and tool_use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tool_use lets Claude REQUEST a tool call (a structured JSON block); your code runs the function and feeds the result back.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Tool description is the PRIMARY selection signal. Minimal descriptions ('Gets customer info') cause tool confusion.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Each description should include: what it does/returns, input formats with examples, edge cases, when to use vs similar alternatives.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Avoid overlapping descriptions across tools (e.g. analyze_content vs analyze_document). Rename to remove semantic overlap.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Built-in tools may be preferred over MCP tools. Counter this by emphasising unique data/context that built-ins cannot access.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tool_choice modes: `auto` (default), `any` (must call SOME tool — guarantees structured output), `{type:tool, name:X}` (force a specific first step).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JSON Schema with tool_use is the most reliable way to get structured output. It eliminates SYNTAX errors but not SEMANTIC errors.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Schema design: required only when always present; nullable types for optional info; `enum` with `other`+detail string and `unclear` for honest fallback.</a:t>
            </a:r>
          </a:p>
        </p:txBody>
      </p:sp>
      <p:pic>
        <p:nvPicPr>
          <p:cNvPr id="4" name="Picture 3" descr="11_tool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25005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3. Claude Agent SDK — Building Agentic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Agentic loop: send → check stop_reason → if tool_use, run tool, append tool_result, loop → if end_turn, finish. The ONLY reliable completion signal is `stop_reason == 'end_turn'`.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Anti-patterns: parsing assistant text for completion, using max_iterations as primary stop, treating presence of text content as 'done'.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AgentDefinition fields: name, description, system_prompt, allowed_tools (least privilege).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Hub-and-spoke: a coordinator owns decomposition, delegation, aggregation, error handling. All inter-agent comms route through the coordinator for observability.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Subagents have ISOLATED context — they do NOT inherit the coordinator's history. Pass full required context explicitly in the Task prompt.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Spawn subagents via the `Task` tool (must be in coordinator's `allowed_tools`). Multiple Task calls in one coordinator response run IN PARALLEL.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Hooks intercept lifecycle events. `PostToolUse` normalises/trims tool results; `PreToolUse` blocks/redirects calls (e.g. block refunds &gt; $500).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Hooks provide DETERMINISTIC guarantees; prompts give PROBABILISTIC compliance. Use hooks for financial / legal / safety constraints.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Sessions: `--resume &lt;name&gt;` continues prior context (risk: stale results). `fork_session` branches off a shared point for parallel approach exploration.</a:t>
            </a:r>
          </a:p>
        </p:txBody>
      </p:sp>
      <p:pic>
        <p:nvPicPr>
          <p:cNvPr id="4" name="Picture 3" descr="02_agent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32019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4. Model Context Protocol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Open protocol that exposes Tools (actions), Resources (read-only data), and Prompts (templates) to a Claude host.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When a host connects to an MCP server, all tools are auto-discovered and merged with tools from other connected servers.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Project config: `.mcp.json` in repo root (in VCS). Use `${ENV_VAR}` substitution so secrets are NOT committed.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User config: `~/.claude.json` for personal/experimental servers, NOT shared via VCS.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Prefer existing community MCP servers (GitHub, Jira, Slack); build custom only for unique team workflows.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Errors: set `isError: true` and return STRUCTURED metadata: `errorCategory` (transient/validation/business/permission), `isRetryable`, message, attempted_query, partial_results, alternative approaches. Generic 'Operation failed' breaks coordinator decision-making.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Resources act as a 'map': agent reads catalogues / schemas / docs without exploratory tool calls.</a:t>
            </a:r>
          </a:p>
        </p:txBody>
      </p:sp>
      <p:pic>
        <p:nvPicPr>
          <p:cNvPr id="4" name="Picture 3" descr="05_mc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32355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5. Claude Code — Configuration &amp;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CLAUDE.md hierarchy: User (~/.claude/CLAUDE.md) → Project (.claude/CLAUDE.md or root CLAUDE.md, in VCS) → Directory (subdir CLAUDE.md). Project-level guarantees teammates inherit standards.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@path imports modularise CLAUDE.md (e.g. `@./standards/testing.md`). Max nesting depth is 5; relative paths resolve from the importing file.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.claude/rules/ contains topical files with YAML frontmatter `paths` globs — loaded ONLY when editing matching files. Ideal for cross-cutting conventions like tests scattered across the codebase.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Custom slash commands live in .claude/commands/ (project, in VCS) or ~/.claude/commands/ (personal).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Skills (.claude/skills/&lt;name&gt;/SKILL.md) extend slash commands with frontmatter: `context: fork` (isolated subagent), `allowed-tools` (least privilege), `argument-hint` (prompts for arg).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Personal skills at ~/.claude/skills/&lt;name&gt;/SKILL.md OVERRIDE same-named project skills for that user.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Planning mode: investigate-only (Read/Grep/Glob), produces an approval-gated plan. Use for large changes, multiple approaches, architectural decisions, unfamiliar codebases.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Direct execution: small, well-understood, single-file changes.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Explore subagent: isolates verbose codebase exploration so it does not pollute main context.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/compact: summarise prior history (risk: numeric/date precision loss). /memory: edit CLAUDE.md to persist facts across sessions.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CI/CD: use `claude -p` (or --print) for non-interactive mode. Combine with --output-format json + --json-schema for parseable findings (e.g. inline PR comments via GitHub API).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Use a SECOND independent Claude instance to review code generated by the first — avoids confirmation bias from generation context.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When re-reviewing after new commits, include prior findings in context and instruct Claude to report only new/unresolved issues to avoid duplicate comments.</a:t>
            </a:r>
          </a:p>
        </p:txBody>
      </p:sp>
      <p:pic>
        <p:nvPicPr>
          <p:cNvPr id="4" name="Picture 3" descr="04_claude_md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35185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6. Prompt Engineering — Advanced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Few-shot (2–4 input/output examples) outperforms vague instructions for ambiguity, formatting, edge cases, informal measurements.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Add normalisation rules (dates → ISO 8601, currency as numeric+code, percentages as decimal) to prevent semantic drift in structured output.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Replace vague instructions with EXPLICIT criteria: what to flag vs ignore, severity definitions with code examples for each level.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Prompt chaining: split tasks into sequential focused passes (e.g. per-file analysis then a cross-file integration pass) to avoid attention dilution.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Use prompt chaining for predictable pipelines; use dynamic decomposition for open-ended investigations.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Interview pattern: Claude asks clarifying questions before implementing in unfamiliar domains or when multiple viable approaches exist.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Validation + retry-with-feedback: re-prompt with the original document, the prior wrong extraction, and the specific validation error. Pydantic is the canonical validation tool.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Retry helps with format/structural/arithmetic issues; it does NOT help when the information is absent from the source.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Self-correction: extract `stated_total` AND `calculated_total`; flag `conflict_detected: true` for downstream handling.</a:t>
            </a:r>
          </a:p>
        </p:txBody>
      </p:sp>
      <p:pic>
        <p:nvPicPr>
          <p:cNvPr id="4" name="Picture 3" descr="12_few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27467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7. Message Batches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50% cost saving vs synchronous; processing window up to 24h with NO latency SLA.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Batch is asynchronous and 'fire-and-forget' — multi-turn tool calling within one request is NOT supported (a fundamental limit).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`custom_id` correlates each request with its response; on partial failure, resubmit only the failed custom_ids.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Decision rule: blocking workflow (pre-merge, interactive review, agent loops) → synchronous. Scheduled workload (overnight reports, weekly audits, bulk extraction) → batch.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SLA planning: if you need results in 30h and batches take up to 24h, your submission window is the remaining 6h.</a:t>
            </a:r>
          </a:p>
        </p:txBody>
      </p:sp>
      <p:pic>
        <p:nvPicPr>
          <p:cNvPr id="4" name="Picture 3" descr="07_sync_vs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29893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8. Task Decomposition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Fixed pipeline (prompt chaining): every step pre-defined — extract metadata → extract data → validate → enrich → output.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Dynamic adaptive decomposition: subtasks are generated from intermediate findings (legacy test coverage analysis, exploratory investigations).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Multi-pass code review: per-file local analysis + a separate cross-file integration pass. Larger context windows do NOT fix attention dilution — focused passes do.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Avoid 'consensus over multiple full reviews' — it suppresses real bugs by demanding agreement across inconsistent runs.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9. Escalation &amp; 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Reliable triggers: explicit human request, policy gap (request not covered), inability to make progress, financial threshold (enforce via HOOK), multiple matches when identifying a customer.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Unreliable triggers: sentiment analysis (mood ≠ complexity), self-rated confidence 1–10 (poorly calibrated — model can be confidently wrong), bespoke trained classifiers (over-engineering).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Pattern: acknowledge emotion → propose concrete resolution → escalate only if customer reiterates the desire for a human (or explicitly asks first time).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Structured handoff to human: customer_id, name, issue_summary, order_id, root_cause, actions_taken[], refund_amount, recommended_action, escalation_reason. Operators see ONLY this — make it self-contained.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Confidence calibration: per-field scores; calibrate against labelled validation set; route low confidence to human review.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Stratified random sampling: a 97% aggregate accuracy can hide 40% errors on a specific document type.</a:t>
            </a:r>
          </a:p>
        </p:txBody>
      </p:sp>
      <p:pic>
        <p:nvPicPr>
          <p:cNvPr id="4" name="Picture 3" descr="13_escalation_trigg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26432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10. Error Handling in Multi-agent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Categories: Transient (retry w/ backoff), Validation (fix input &amp; retry), Business (explain + alternative), Permission (escalate).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Subagent does LOCAL recovery (1–2 retries) for transient failures; only propagates non-recoverable errors to coordinator.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Anti-patterns: generic 'service unavailable' status (no recovery info), silent suppression (empty result == success), aborting whole workflow on one failure, infinite subagent retries.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Distinguish ACCESS FAILURE (timeout — retry decision) from VALID EMPTY RESULT ('0 results' — successful query).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Coverage annotations in synthesis: 'FULL COVERAGE' / 'PARTIAL COVERAGE — search timeout' to communicate uncertainty downstream.</a:t>
            </a:r>
          </a:p>
        </p:txBody>
      </p:sp>
      <p:pic>
        <p:nvPicPr>
          <p:cNvPr id="4" name="Picture 3" descr="08_error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27467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11. Context Management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6217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Extract a Case-Facts block (customer_id, order_id, amounts, dates, issue, request, status) and pin it OUTSIDE the summarised history.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Trim verbose tool results via PostToolUse hook (40+ fields → keep 5).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Position-aware input: KEY FINDINGS at the TOP, action items at the BOTTOM, detailed results in middle with explicit headings (mitigates lost-in-the-middle).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Scratchpad files (e.g. investigation-scratchpad.md) survive context boundaries and new sessions.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Delegate exploratory work to subagents (Explore subagent) — keeps main context clean.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Constrained subagent budgets: minimal context, structured-only return, restricted allowed_tools.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Crash recovery: each subagent persists state to agent-state/&lt;name&gt;.json; coordinator reads manifest.json on resume.</a:t>
            </a:r>
          </a:p>
        </p:txBody>
      </p:sp>
      <p:pic>
        <p:nvPicPr>
          <p:cNvPr id="4" name="Picture 3" descr="09_context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32320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12. Provenance Preservation in Multi-source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Always preserve claim → source mappings (URL, source name, publication date, methodology) — do not let attribution dissolve in summarisation.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Conflicting data: keep both values with attribution; let the coordinator decide (do not arbitrarily pick one).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Include dates so temporal differences are not misread as contradictions.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Render by content type: tables for financial, prose for analysis, structured lists for technical findings, chronological for time series.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13. Claude Code Built-in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Glob — find files by name/extension pattern (`**/*.test.tsx`).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Grep — search WITHIN file contents (function names, errors, imports).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Read — full file load. Write — create new file. Edit — precise replace via unique string match.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When Edit fails on non-unique match: fall back to Read → modify in memory → Write.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Investigation strategy: incremental — Grep for entry points → Read those files → Grep for usages → Read consumers → repeat until full picture.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Multi-agent: Hub-and-Spoke</a:t>
            </a:r>
          </a:p>
        </p:txBody>
      </p:sp>
      <p:pic>
        <p:nvPicPr>
          <p:cNvPr id="3" name="Picture 2" descr="03_hub_and_sp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48871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57"/>
                </a:solidFill>
              </a:defRPr>
            </a:pPr>
            <a:r>
              <a:t>Coordinator owns: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  decomposition, delegation, aggregation, error handling</a:t>
            </a: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Subagents: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  isolated context — pass everything explicitly via Task prompt</a:t>
            </a: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Parallelism: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  multiple Task calls in one coordinator turn</a:t>
            </a:r>
          </a:p>
          <a:p>
            <a:pPr algn="l">
              <a:defRPr sz="1600" b="1">
                <a:solidFill>
                  <a:srgbClr val="B5483D"/>
                </a:solidFill>
              </a:defRPr>
            </a:pPr>
            <a:r>
              <a:t>Watch for: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  overly narrow decomposition, generic error envelopes, silent suppression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Hooks vs Prompt Instructions</a:t>
            </a:r>
          </a:p>
        </p:txBody>
      </p:sp>
      <p:pic>
        <p:nvPicPr>
          <p:cNvPr id="3" name="Picture 2" descr="06_hooks_vs_prom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601200" cy="52437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Planning Mode vs Direct Execution</a:t>
            </a:r>
          </a:p>
        </p:txBody>
      </p:sp>
      <p:pic>
        <p:nvPicPr>
          <p:cNvPr id="3" name="Picture 2" descr="10_planning_vs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601200" cy="524373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tool_choice — three modes</a:t>
            </a:r>
          </a:p>
        </p:txBody>
      </p:sp>
      <p:pic>
        <p:nvPicPr>
          <p:cNvPr id="3" name="Picture 2" descr="11_tool_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601200" cy="477374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Sync API vs Message Batches API</a:t>
            </a:r>
          </a:p>
        </p:txBody>
      </p:sp>
      <p:pic>
        <p:nvPicPr>
          <p:cNvPr id="3" name="Picture 2" descr="07_sync_vs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601200" cy="57070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Error categories &amp; responses</a:t>
            </a:r>
          </a:p>
        </p:txBody>
      </p:sp>
      <p:pic>
        <p:nvPicPr>
          <p:cNvPr id="3" name="Picture 2" descr="08_error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601200" cy="524373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Context-window management strategies</a:t>
            </a:r>
          </a:p>
        </p:txBody>
      </p:sp>
      <p:pic>
        <p:nvPicPr>
          <p:cNvPr id="3" name="Picture 2" descr="09_context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601200" cy="617028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Domain 1 — Agent Architecture &amp; Orchestration (27%)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6F8F"/>
                </a:solidFill>
              </a:defRPr>
            </a:pPr>
            <a:r>
              <a:t>Designing Agentic Loops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Lifecycle: send → stop_reason check → tool_use vs end_turn → loop with appended tool_result.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Model-driven, not hard-coded decision tree.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Anti-patterns: text-parsing for completion, max_iterations as primary stop.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Multi-agent Orchestration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Hub-and-spoke topology with coordinator-mediated communication for observability.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Subagents have ISOLATED context — pass everything explicitly.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Coordinator owns dynamic subagent selection, error handling, aggregation.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Watch for OVERLY NARROW decomposition (assigning subtasks that miss whole subdomains).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Subagent Spawning &amp; Context Passing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Task tool spawns subagents (must be in coordinator's allowed_tools).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Multiple Task calls in one turn run in parallel.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Pass full required outputs from prior agents — never assume inheritance.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Coordinator prompts: state goals + quality criteria, not step-by-step instructions.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Multi-step Workflows: Enforcement vs Guidance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Programmatic preconditions (block lookup_order until get_customer returns a verified ID) &gt; prompt instructions for critical sequences.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Structured handoff payloads on escalation.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Agent SDK Hooks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PostToolUse: normalise dates, trim noisy fields.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PreToolUse: block policy-violating calls; redirect to escalation.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Hooks deterministic; prompts probabilistic.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Task Decomposition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Fixed pipelines (prompt chaining) vs dynamic adaptive decomposition.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Per-file + integration passes for multi-file code review.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Sessions: Resume &amp; Fork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--resume continues; fork_session branches.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Prefer fresh session with summary when results are stale.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Domain 2 — Tool Design &amp; MCP Integration (18%)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6F8F"/>
                </a:solidFill>
              </a:defRPr>
            </a:pPr>
            <a:r>
              <a:t>Tool Interface Design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Descriptions are the primary selection mechanism; include input formats, examples, edge cases, boundaries.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Eliminate functional overlap by RENAMING (e.g. analyze_content → extract_web_results).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Split general-purpose tools (fetch_url) into specialised ones (load_document with URL validation) — least privilege at the interface.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Structured Error Responses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isError: true with errorCategory, isRetryable, message, attempted_query, partial_results, alternative_approaches.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Distinguish access failures from valid empty results.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Local recovery in subagents; propagate only what they can't resolve.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Tool Allocation &amp; tool_choice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≤ ~5 well-scoped tools per agent; more than that hurts selection reliability.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Subagent toolset matches its role.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tool_choice 'any' guarantees structured output; force a specific tool to enforce a first step.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MCP Configuration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Project .mcp.json (in VCS, ${ENV} for secrets) vs user ~/.claude.json (private).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Tools from all connected servers are merged.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Resources are read-only context maps.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Built-in Tools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Grep / Glob / Read / Write / Edit / Bash purposes.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Read+Write fallback when Edit can't find a unique match.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Domain 3 — Claude Code Configuration &amp; Workflows (20%)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6F8F"/>
                </a:solidFill>
              </a:defRPr>
            </a:pPr>
            <a:r>
              <a:t>CLAUDE.md Hierarchy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User → Project → Directory levels merge.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Project-level (in VCS) is the only level new teammates inherit automatically.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@path imports modularise; .claude/rules/ scopes via glob frontmatter.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Custom Slash Commands &amp; Skills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.claude/commands/ (legacy) and .claude/skills/&lt;name&gt;/SKILL.md (current) — both produce /name.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Frontmatter: context: fork, allowed-tools, argument-hint.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Personal ~/.claude/skills/&lt;name&gt;/SKILL.md overrides project skill for that user.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Path-specific Rules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.claude/rules/&lt;topic&gt;.md with `paths: ['**/*.test.tsx']`.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Loaded only when editing matching files — saves tokens.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Better than dir-level CLAUDE.md when conventions span many directories (tests, migrations).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Planning Mode vs Direct Execution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Plan first for large/architectural/multiple-approach changes.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Direct for clear single-file fixes.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Combine: plan, get approval, execute.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Iterative Refinement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Concrete I/O examples &gt; prose specs.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Test-driven iteration; interview pattern for unknowns.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CI/CD Integration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claude -p for non-interactive mode.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--output-format json + --json-schema → parseable PR comments.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Independent reviewer instance avoids confirmation bias.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Include prior findings to suppress duplicate comments on follow-up commits.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Domain 4 — Prompt Engineering &amp; Structured Output (20%)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6F8F"/>
                </a:solidFill>
              </a:defRPr>
            </a:pPr>
            <a:r>
              <a:t>Explicit Criteria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Replace 'be conservative' with categorical rules and severity definitions tied to code examples.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Disable categories with high false-positive rates to restore developer trust.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Few-shot Prompting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2–4 targeted examples with rationale for ambiguous decisions.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Show output format AND distinguish acceptable vs problematic patterns.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Structured Output via tool_use + JSON Schema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Eliminates SYNTAX errors; not semantic ones.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Mark optional fields nullable so the model returns null rather than fabricating.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Use enums with `other` + detail and `unclear` to capture out-of-distribution cases.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tool_choice 'any' for guaranteed call; force specific tool to lock the first step.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Validation, Retries, Feedback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Retry-with-error-feedback: original doc + wrong extraction + concrete error message.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Pydantic semantic validators for business rules (sum(items) == total, start &lt; end).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Self-correction: stated_total + calculated_total + conflict_detected.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Batch Processing Strategies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Sync vs Batch decision = blocking vs scheduled.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Iterate prompts on a sample BEFORE bulk processing.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Resubmit failed custom_ids only.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Multi-instance / Multi-pass Review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Independent reviewer Claude instance.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Per-file + integration pass for multi-file PRs.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Domain 5 — Context Management &amp; Reliability (15%)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6F8F"/>
                </a:solidFill>
              </a:defRPr>
            </a:pPr>
            <a:r>
              <a:t>Conversation Context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Send full history every request — model is stateless.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Lost-in-the-middle: critical info goes at top or bottom.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Trim verbose tool outputs via PostToolUse hook.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Pin transactional facts in a Case-Facts block outside summarisation.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Escalation &amp; Ambiguity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Reliable triggers; ask for additional identifier on multiple matches; immediate handoff on explicit human request.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Error Propagation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Structured error context, partial results, alternative approaches.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Distinguish access failure from empty result.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Coverage annotations in synthesis output.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Large-codebase Context Efficiency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Explore subagent isolates discovery output.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Scratchpad files preserve findings across sessions.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/compact when verbose; /memory persists across sessions via CLAUDE.md.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Human Oversight &amp; Confidence Calibration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Field-level confidence scores; calibrate on labelled set.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Stratified random sampling — analyse accuracy per document type / field.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Provenance Preservation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claim → source mappings; preserve conflicting values with attribution.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  Always include publication dates.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Cheat sheet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57"/>
                </a:solidFill>
              </a:defRPr>
            </a:pPr>
            <a:r>
              <a:t>Stop reasons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end_turn → finished (only reliable completion signal)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tool_use → run tool, append tool_result, loop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max_tokens → truncated; raise limit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stop_sequence → application-specific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tool_choice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"auto" → model decides text vs tool (default)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"any" → must call SOME tool (guarantees structured output)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{"type":"tool","name":"X"} → must call X (force first step)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Hooks vs Prompts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Hooks: deterministic 100% — financial, legal, safety, compliance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Prompts: probabilistic — preferences, formatting, soft policy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Subagents (Task tool)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Coordinator's allowed_tools must include 'Task'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ISOLATED context — pass everything explicitly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Multiple Task calls in ONE turn run in PARALLEL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Return STRUCTURED data, not raw dumps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Cheat sheet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57"/>
                </a:solidFill>
              </a:defRPr>
            </a:pPr>
            <a:r>
              <a:t>MCP error envelope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isError: true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errorCategory: transient | validation | business | permission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isRetryable: bool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attempted_query, partial_results, alternative_approaches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CLAUDE.md scope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User: ~/.claude/CLAUDE.md (private)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Project: .claude/CLAUDE.md or root CLAUDE.md (in VCS — only level teammates inherit)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Directory: &lt;subdir&gt;/CLAUDE.md (scoped to that area)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Modularise via @path or .claude/rules/&lt;topic&gt;.md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.claude/rules/ frontmatter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paths: ['src/api/**/*.ts'] — load only when editing matching files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Use for cross-cutting conventions (tests scattered across repo)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Skill frontmatter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context: fork → isolated subagent (avoid main-context pollution)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allowed-tools: ['Read','Grep'] → least privilege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argument-hint: 'Path to analyse'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Cheat sheet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57"/>
                </a:solidFill>
              </a:defRPr>
            </a:pPr>
            <a:r>
              <a:t>CI/CD CLI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claude -p (or --print) — non-interactive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--output-format json + --json-schema — parseable findings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Run a SECOND independent instance to review (avoids confirmation bias)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Include prior findings to avoid duplicate comments on follow-up commits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Sync vs Batch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Sync: blocking workflows, agent loops with multi-turn tool use, real-time UX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Batch (50% off, ≤24h): overnight reports, weekly audits, bulk extraction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Batch does NOT support multi-turn tool calling within one request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Escalation triggers (reliable)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Explicit human request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Policy gap / silent on request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Cannot make progress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Financial threshold (enforce via hook)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Multiple customer matches → ask for additional identifier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D97757"/>
                </a:solidFill>
              </a:defRPr>
            </a:pPr>
            <a:r>
              <a:t>Anti-patterns to recognise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Parsing assistant text for completion (use stop_reason)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max_iterations as primary stop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Generic 'operation failed' error responses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Aborting whole workflow on one subagent failure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Sentiment analysis for escalation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Self-rated confidence 1–10 for routing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Single-pass review of 14 files (attention dilution)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  Treating empty result == access failure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 — Customer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Logs show that in 12% of cases the agent skips get_customer and calls lookup_order using only the customer-provided name, leading to incorrect refunds. Which change is MOST effective?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Add a programmatic precondition that blocks lookup_order and process_refund until get_customer returns a verified ID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Strengthen the system prompt requiring verification first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Add few-shot examples of correct sequencing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Add a routing classifier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Critical sequencing must be deterministic. Hooks/preconditions guarantee 100% compliance; prompts (B,C) are probabilistic. D solves a different problem (availability, not ordering).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Q2 — Customer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Agent often calls get_customer instead of lookup_order for order questions; tool descriptions are minimal and similar. First step?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Add few-shot examples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Expand each tool description with input formats, examples, edge cases, boundaries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Add a routing layer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Merge the tools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B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Descriptions are the model's primary selection mechanism — fix the root cause first. Lowest-effort, highest-impact.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Q3 — Customer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Agent resolves only 55% of issues vs 80% target; escalates simple cases and tries to handle complex policy exceptions. How to improve calibration?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Explicit escalation criteria with few-shot examples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Self-rated confidence 1–10 with auto-escalation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Train a separate classifier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Sentiment analysis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Decision-boundary problem → explicit criteria + examples. Self-rated confidence is poorly calibrated; sentiment ≠ complexity; classifier is over-engineering.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Q4 — Code Generation with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You need a /review slash command available to the whole team after cloning the repo. Where do you put it?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.claude/commands/ in the project repo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~/.claude/commands/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Root CLAUDE.md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.claude/config.json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Project-level commands in VCS are inherited by every clone. ~/ is personal-only.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Q5 — Code Generation with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You need to restructure a monolith into microservices (dozens of files, boundary decisions). Approach?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Planning mode: explore → understand dependencies → design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Direct execution incrementally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Direct execution with detailed up-front instructions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Direct execution; switch to planning when it gets hard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Planning mode is designed for large, multi-approach, architectural changes. B/C/D risk expensive rework.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Q6 — Code Generation with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Codebase has different conventions per area; tests are co-located with code. You want conventions auto-applied. Best approach?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.claude/rules/ files with YAML frontmatter `paths` glob patterns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Put everything in root CLAUDE.md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Skills in .claude/skills/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CLAUDE.md in every directory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paths-scoped rules load only when editing matching files — ideal for cross-cutting conventions like tests scattered across the codebase.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Q7 — Multi-agent Research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Reports cover only visual art; coordinator decomposed into 'AI in digital art', 'AI in graphic design', 'AI in photography'. Likely root cause?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Synthesis agent doesn't detect gaps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Coordinator decomposed too narrowly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Web-search agent isn't thorough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Document analysis filters out non-visual sources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B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Subagents executed correctly — the issue is what they were assigned. Watch for coordinator decomposition that misses whole subdomains.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Q8 — Multi-agent Research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A web-search subagent times out. Best error propagation to coordinator?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Structured error: failure_type, query, partial_results, alternative_approaches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Internal retries, then return generic 'search unavailable'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Catch the timeout and return empty result marked successful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Propagate timeout exception, terminate workflow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Coordinator needs context to choose: retry/alternative/partial/skip. B hides info; C masks failure; D over-aborts.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Q9 — Multi-agent Research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Document agent hits 2 contradictory credible sources for a key statistic. Best handling?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Apply credibility heuristics, footnote the discrepancy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Include both, unmarked, let synthesis decide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Stop and ask coordinator which is authoritative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Complete with both values, explicitly annotate the conflict with attribution, let coordinator reconcile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D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Preserve both values + attribution; reconciliation is the coordinator's job (broader context).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Q10 — Multi-agent Research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fetch_url on the document analysis agent is being misused for ad-hoc web search. Most effective fix?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Replace fetch_url with load_document that validates URLs are document formats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Remove fetch_url, route all URL fetches via coordinator/web-search agent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Block known search-engine domains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Add prompt instructions saying 'don't use for search'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Constrain capability at the interface — least privilege. Makes misuse architecturally impossible, not merely discouraged.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Q11 — Claude Code for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Pipeline runs `claude "Analyze this PR for security issues"` and hangs. Fix?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Use --batch flag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Use -p (or --print) flag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Redirect stdin from /dev/null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Set CLAUDE_HEADLESS=true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B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-p / --print is the documented non-interactive mode for CI/CD.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Q12 — Claude Code for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Manager wants to move BOTH (1) blocking pre-merge checks and (2) overnight tech-debt reports to Batch API for 50% savings. How to evaluate?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Move both to batch with polling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Use sync for pre-merge checks; batch for overnight reports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Keep both sync to avoid ordering issues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Move both to batch with sync fallback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B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Batch up to 24h is unsuitable for blocking workflows where developers wait, but ideal for overnight scheduled work.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Q13 — Claude Code for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Iterative review uses tool calls to fetch related files. Why is Batch API fundamentally unsuitable here?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Batch lacks correlation IDs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Async fire-and-forget cannot intercept tool calls mid-request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Batch doesn't support tools in request params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24h latency is too slow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B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Batch is single request → single response. Multi-turn tool calling within one logical interaction needs synchronous round trips.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Q14 — Claude Code for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Findings are accurate but not actionable ('complex routing logic', 'potential null pointer'). Adding instructions doesn't help. Most reliable fix?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More explicit instructions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Larger context window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Two-pass: identify, then generate fixes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3–4 few-shot examples showing the exact required format (issue, location, concrete fix)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D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Instruction-only changes produce inconsistency; concrete examples lock in format reliably.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Q15 — Structured Data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After two iterations, output structure still mismatches expectations (nesting, timestamp format). Best next step?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JSON schema validation after each iteration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Provide 2–3 concrete input/output examples of the expected transformation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Rewrite requirements with more technical precision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Ask Claude to explain its current understanding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B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Examples remove prose ambiguity directly. Schema validation enforces structure but not the desired mapping.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Q16 — Conversational AI Architecture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Two messages after the user said 'I love jazz', Claude asks 'What genres do you enjoy?' Most likely cause?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Need a vector DB for memory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Context window exceeded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Claude API needs session_id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Application isn't including prior messages in the messages array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D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Claude is stateless. Every request must include the full prior history.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Q17 — Conversational AI Architecture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remove_team_member has dry_run; agent bypasses preview by calling dry_run=false directly. Most reliable enforcement?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Server-side validation requiring a preceding dry_run within 60s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Mark the tool as 'requires confirmation' in orchestration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Detailed instructions + few-shot in tool description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Two tools: preview_remove_member returns a single-use confirmation token; execute_remove_member requires that token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D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Token-binding makes execution architecturally impossible without a preview — code-level enforcement, not LLM compliance.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Q18 — Conversational AI Architecture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Production: customers reference '15% discount mentioned earlier' but the agent cites wrong values; details were 20+ turns ago and got summarised vaguely. Best fix?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Raise summarisation threshold to 85%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Store full history externally and retrieve on 'as I mentioned'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Extract transactional facts (amounts, dates, IDs) into a persistent Case-Facts block included every prompt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Revise summarisation prompt to preserve numbers verbatim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C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Summarisation inevitably loses precision. Pin facts OUTSIDE the summarisable history so they're always present.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Q19 — Customer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Tools return Unix timestamps, ISO dates, numeric status codes; some tools are 3rd-party MCP servers you cannot modify. Most maintainable normalisation?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PostToolUse hook intercepts outputs and normalises before the agent sees them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Modify tools you control + wrap 3rd-party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A normalize_data tool the agent calls after each retrieval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Document formats in the system prompt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Centralised, deterministic, code-level transformation that works uniformly regardless of source.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Q20 — Customer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1919"/>
                </a:solidFill>
              </a:defRPr>
            </a:pPr>
            <a:r>
              <a:t>Agent loop: when do you stop calling Claude vs continue with another tool result?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A. Check stop_reason: continue on tool_use, stop on end_turn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B. Parse text for 'I'm done' / 'anything else?'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C. Stop after max iterations</a:t>
            </a:r>
          </a:p>
          <a:p>
            <a:pPr algn="l">
              <a:defRPr sz="1300" b="0">
                <a:solidFill>
                  <a:srgbClr val="191919"/>
                </a:solidFill>
              </a:defRPr>
            </a:pPr>
            <a:r>
              <a:t>D. Stop if assistant produced any text content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</a:p>
          <a:p>
            <a:pPr algn="l">
              <a:defRPr sz="1600" b="1">
                <a:solidFill>
                  <a:srgbClr val="5A8A6B"/>
                </a:solidFill>
              </a:defRPr>
            </a:pPr>
            <a:r>
              <a:t>Answer: A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Why: stop_reason is the explicit, reliable signal. Everything else is heuristic and breaks.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Exercise 1 — Multi-tool Agent with Escalation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57"/>
                </a:solidFill>
              </a:defRPr>
            </a:pPr>
            <a:r>
              <a:t>• Domains: 1, 2, 5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• 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Define 3–4 MCP tools with rich descriptions (include 2 similar to test selection).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Implement an agent loop checking stop_reason (tool_use vs end_turn).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Add structured error responses (errorCategory, isRetryable, message).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Add a PreToolUse hook blocking refunds &gt; $500 and routing to escalation.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Test with a multi-aspect customer request (refund + shipping update).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Exercise 2 — Claude Code for Team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57"/>
                </a:solidFill>
              </a:defRPr>
            </a:pPr>
            <a:r>
              <a:t>• Domains: 3, 2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• 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Project-level CLAUDE.md with universal standards.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.claude/rules/ files with paths globs (api, tests, deployments).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 skill at .claude/skills/&lt;name&gt;/SKILL.md with context: fork and allowed-tools.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.mcp.json with ${ENV} substitution for a community server (GitHub).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Test planning mode vs direct execution on tasks of different sizes.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Exercise 3 — Structured Data Extraction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57"/>
                </a:solidFill>
              </a:defRPr>
            </a:pPr>
            <a:r>
              <a:t>• Domains: 4, 5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• 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Define an extraction tool with JSON schema (required/nullable/enum with 'other').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Validation loop: on error, retry with original document + wrong extraction + concrete error.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Few-shot examples for inline citations vs bibliography references vs informal measurements.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Batch run via Message Batches API on 100 docs; resubmit failed custom_ids only.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Field-level confidence; route low-confidence and ambiguous-source docs to human review.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Exercise 4 — Multi-agent Research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97757"/>
                </a:solidFill>
              </a:defRPr>
            </a:pPr>
            <a:r>
              <a:t>• Domains: 1, 2, 5</a:t>
            </a:r>
          </a:p>
          <a:p>
            <a:pPr algn="l">
              <a:defRPr sz="1200" b="0">
                <a:solidFill>
                  <a:srgbClr val="191919"/>
                </a:solidFill>
              </a:defRPr>
            </a:pPr>
            <a:r>
              <a:t>• 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Coordinator with allowed_tools=['Task', ...]; 2+ subagents (web search + doc analysis).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Spawn subagents in parallel via multiple Task calls in one coordinator turn.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Require structured subagent output: claim, quote, source URL, publication date.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Simulate a subagent timeout — return structured error context, continue with partial results, annotate coverage in synthesis.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Test with conflicting data — preserve both values with attribution.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Skilljar prep tracks (free)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AI Fluency: Framework &amp; Foundations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Introduction to Agent Skills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Building with the Claude API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Claude Code in Action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Intro to Model Context Protocol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MCP: Advanced Topics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Prompt Engineering Interactive Tutorial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Real-world Prompting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Tool Use with Claude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Customer Service Agent (cookbook walkthrough)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Multi-agent Research Pipelines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Structured Data Extraction Workshop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Claude Code in CI/CD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Documentation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Claude API: Messages, Tool Use, Message Batches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Agent SDK: Overview, Hooks, Subagents, Sessions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Model Context Protocol: Tools, Resources, Servers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Claude Code: Memory (CLAUDE.md), Skills, Hooks, Sub-agents, MCP, GitHub Actions, Headless</a:t>
            </a:r>
          </a:p>
          <a:p>
            <a:pPr algn="l">
              <a:defRPr sz="1600" b="0">
                <a:solidFill>
                  <a:srgbClr val="191919"/>
                </a:solidFill>
              </a:defRPr>
            </a:pPr>
            <a:r>
              <a:t>• Prompt Engineering Guide + Anthropic Cookbook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Community /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YouTube playlist PLFz7SvAnfqLpjPCPJBkUy077BC5ecuE8c — exam walkthroughs and demos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github.com/paullarionov/claude-certified-architect — full study guide &amp; 76 practice Qs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claudecertifications.com — free study guide + practice questions</a:t>
            </a:r>
          </a:p>
          <a:p>
            <a:pPr algn="l">
              <a:defRPr sz="1500" b="0">
                <a:solidFill>
                  <a:srgbClr val="191919"/>
                </a:solidFill>
              </a:defRPr>
            </a:pPr>
            <a:r>
              <a:t>• FlashGenius / Tutorialsdojo / DEV.to / Towards AI — domain primers and worked questions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B5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Out of scope — don't waste time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Fine-tuning / training custom models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API authentication, billing, account management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Language/framework-specific implementation details (beyond schema/tool config)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Hosting / infrastructure for MCP servers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Claude internals (training, weights, RLHF, Constitutional AI)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Embeddings &amp; vector DB implementation details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Computer use / browser automation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Vision / image analysis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Streaming API / SSE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Rate limiting &amp; quotas / detailed cost calculations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OAuth, key rotation, auth protocol details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Cloud-provider specific configurations (AWS / GCP / Azure)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Performance benchmarks / model comparisons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Prompt caching implementation details (beyond knowing it exists)</a:t>
            </a:r>
          </a:p>
          <a:p>
            <a:pPr algn="l">
              <a:defRPr sz="1400" b="0">
                <a:solidFill>
                  <a:srgbClr val="191919"/>
                </a:solidFill>
              </a:defRPr>
            </a:pPr>
            <a:r>
              <a:t>• Tokenisation specifics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2400" b="1">
                <a:solidFill>
                  <a:srgbClr val="F5F0E8"/>
                </a:solidFill>
              </a:defRPr>
            </a:pPr>
            <a:r>
              <a:t>You are exam-ready when you can…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6F8F"/>
                </a:solidFill>
              </a:defRPr>
            </a:pPr>
            <a:r>
              <a:t>…explain the agent loop end-to-end and the role of stop_reason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…choose between hook and prompt for any reliability requirement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…design 5 well-scoped MCP tools with structured error envelopes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…configure CLAUDE.md, .claude/rules, skills, .mcp.json correctly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…spot 'overly narrow decomposition' and 'attention dilution' anti-patterns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…know exactly when to choose Sync vs Batch</a:t>
            </a:r>
          </a:p>
          <a:p>
            <a:pPr algn="l">
              <a:defRPr sz="1600" b="1">
                <a:solidFill>
                  <a:srgbClr val="3A6F8F"/>
                </a:solidFill>
              </a:defRPr>
            </a:pPr>
            <a:r>
              <a:t>…enforce sequencing with preconditions and token-bound preview/execute pairs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